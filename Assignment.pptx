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57"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C5571B-0815-4303-ACFA-D11E4F56A021}" v="12" dt="2026-03-20T19:38:27.8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94660"/>
  </p:normalViewPr>
  <p:slideViewPr>
    <p:cSldViewPr snapToGrid="0">
      <p:cViewPr varScale="1">
        <p:scale>
          <a:sx n="79" d="100"/>
          <a:sy n="79" d="100"/>
        </p:scale>
        <p:origin x="108" y="1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Glynn" userId="7b80944d-1e93-41c3-aa5b-c1c1d09e6091" providerId="ADAL" clId="{98CCD932-5ADB-4882-9D45-96141E4E64DA}"/>
    <pc:docChg chg="undo custSel addSld delSld modSld sldOrd">
      <pc:chgData name="Tom Glynn" userId="7b80944d-1e93-41c3-aa5b-c1c1d09e6091" providerId="ADAL" clId="{98CCD932-5ADB-4882-9D45-96141E4E64DA}" dt="2026-03-20T19:39:00.183" v="2599" actId="20577"/>
      <pc:docMkLst>
        <pc:docMk/>
      </pc:docMkLst>
      <pc:sldChg chg="modSp mod">
        <pc:chgData name="Tom Glynn" userId="7b80944d-1e93-41c3-aa5b-c1c1d09e6091" providerId="ADAL" clId="{98CCD932-5ADB-4882-9D45-96141E4E64DA}" dt="2026-03-20T19:01:34.430" v="1461" actId="20577"/>
        <pc:sldMkLst>
          <pc:docMk/>
          <pc:sldMk cId="915689032" sldId="257"/>
        </pc:sldMkLst>
        <pc:spChg chg="mod">
          <ac:chgData name="Tom Glynn" userId="7b80944d-1e93-41c3-aa5b-c1c1d09e6091" providerId="ADAL" clId="{98CCD932-5ADB-4882-9D45-96141E4E64DA}" dt="2026-03-20T18:50:52.719" v="658" actId="20577"/>
          <ac:spMkLst>
            <pc:docMk/>
            <pc:sldMk cId="915689032" sldId="257"/>
            <ac:spMk id="2" creationId="{19D803A1-ED75-69F2-F30C-608A769D4ED9}"/>
          </ac:spMkLst>
        </pc:spChg>
        <pc:spChg chg="mod">
          <ac:chgData name="Tom Glynn" userId="7b80944d-1e93-41c3-aa5b-c1c1d09e6091" providerId="ADAL" clId="{98CCD932-5ADB-4882-9D45-96141E4E64DA}" dt="2026-03-20T19:01:34.430" v="1461" actId="20577"/>
          <ac:spMkLst>
            <pc:docMk/>
            <pc:sldMk cId="915689032" sldId="257"/>
            <ac:spMk id="3" creationId="{5C3BABEE-F9A6-1A42-C6FD-48877B5F067B}"/>
          </ac:spMkLst>
        </pc:spChg>
      </pc:sldChg>
      <pc:sldChg chg="modSp mod">
        <pc:chgData name="Tom Glynn" userId="7b80944d-1e93-41c3-aa5b-c1c1d09e6091" providerId="ADAL" clId="{98CCD932-5ADB-4882-9D45-96141E4E64DA}" dt="2026-03-20T18:52:07.603" v="873" actId="6549"/>
        <pc:sldMkLst>
          <pc:docMk/>
          <pc:sldMk cId="2806833756" sldId="258"/>
        </pc:sldMkLst>
        <pc:spChg chg="mod">
          <ac:chgData name="Tom Glynn" userId="7b80944d-1e93-41c3-aa5b-c1c1d09e6091" providerId="ADAL" clId="{98CCD932-5ADB-4882-9D45-96141E4E64DA}" dt="2026-03-20T18:52:07.603" v="873" actId="6549"/>
          <ac:spMkLst>
            <pc:docMk/>
            <pc:sldMk cId="2806833756" sldId="258"/>
            <ac:spMk id="3" creationId="{656F04BE-C305-8A84-3F3F-ECF84013BC5E}"/>
          </ac:spMkLst>
        </pc:spChg>
      </pc:sldChg>
      <pc:sldChg chg="addSp modSp mod ord setBg">
        <pc:chgData name="Tom Glynn" userId="7b80944d-1e93-41c3-aa5b-c1c1d09e6091" providerId="ADAL" clId="{98CCD932-5ADB-4882-9D45-96141E4E64DA}" dt="2026-03-20T19:02:18.813" v="1467"/>
        <pc:sldMkLst>
          <pc:docMk/>
          <pc:sldMk cId="3266240470" sldId="259"/>
        </pc:sldMkLst>
        <pc:spChg chg="mod">
          <ac:chgData name="Tom Glynn" userId="7b80944d-1e93-41c3-aa5b-c1c1d09e6091" providerId="ADAL" clId="{98CCD932-5ADB-4882-9D45-96141E4E64DA}" dt="2026-03-20T18:47:53.581" v="591" actId="255"/>
          <ac:spMkLst>
            <pc:docMk/>
            <pc:sldMk cId="3266240470" sldId="259"/>
            <ac:spMk id="2" creationId="{B4E25ACF-4787-E78B-7417-29C1D59AEFCA}"/>
          </ac:spMkLst>
        </pc:spChg>
        <pc:spChg chg="mod">
          <ac:chgData name="Tom Glynn" userId="7b80944d-1e93-41c3-aa5b-c1c1d09e6091" providerId="ADAL" clId="{98CCD932-5ADB-4882-9D45-96141E4E64DA}" dt="2026-03-20T18:50:45.027" v="639" actId="27636"/>
          <ac:spMkLst>
            <pc:docMk/>
            <pc:sldMk cId="3266240470" sldId="259"/>
            <ac:spMk id="3" creationId="{F349E993-3261-78E0-CAEB-ADABAE2B6090}"/>
          </ac:spMkLst>
        </pc:spChg>
        <pc:spChg chg="add">
          <ac:chgData name="Tom Glynn" userId="7b80944d-1e93-41c3-aa5b-c1c1d09e6091" providerId="ADAL" clId="{98CCD932-5ADB-4882-9D45-96141E4E64DA}" dt="2026-03-20T18:42:12.707" v="25" actId="26606"/>
          <ac:spMkLst>
            <pc:docMk/>
            <pc:sldMk cId="3266240470" sldId="259"/>
            <ac:spMk id="10" creationId="{ECC07320-C2CA-4E29-8481-9D9E143C7788}"/>
          </ac:spMkLst>
        </pc:spChg>
        <pc:spChg chg="add">
          <ac:chgData name="Tom Glynn" userId="7b80944d-1e93-41c3-aa5b-c1c1d09e6091" providerId="ADAL" clId="{98CCD932-5ADB-4882-9D45-96141E4E64DA}" dt="2026-03-20T18:42:12.707" v="25" actId="26606"/>
          <ac:spMkLst>
            <pc:docMk/>
            <pc:sldMk cId="3266240470" sldId="259"/>
            <ac:spMk id="12" creationId="{178FB36B-5BFE-42CA-BC60-1115E0D95EEC}"/>
          </ac:spMkLst>
        </pc:spChg>
        <pc:picChg chg="add mod ord modCrop">
          <ac:chgData name="Tom Glynn" userId="7b80944d-1e93-41c3-aa5b-c1c1d09e6091" providerId="ADAL" clId="{98CCD932-5ADB-4882-9D45-96141E4E64DA}" dt="2026-03-20T18:42:56.692" v="32" actId="1076"/>
          <ac:picMkLst>
            <pc:docMk/>
            <pc:sldMk cId="3266240470" sldId="259"/>
            <ac:picMk id="5" creationId="{6226A0BC-1BA6-7B73-5E7B-3293571481DF}"/>
          </ac:picMkLst>
        </pc:picChg>
      </pc:sldChg>
      <pc:sldChg chg="modSp add mod">
        <pc:chgData name="Tom Glynn" userId="7b80944d-1e93-41c3-aa5b-c1c1d09e6091" providerId="ADAL" clId="{98CCD932-5ADB-4882-9D45-96141E4E64DA}" dt="2026-03-20T19:10:15.738" v="2187"/>
        <pc:sldMkLst>
          <pc:docMk/>
          <pc:sldMk cId="41280815" sldId="260"/>
        </pc:sldMkLst>
        <pc:spChg chg="mod">
          <ac:chgData name="Tom Glynn" userId="7b80944d-1e93-41c3-aa5b-c1c1d09e6091" providerId="ADAL" clId="{98CCD932-5ADB-4882-9D45-96141E4E64DA}" dt="2026-03-20T19:10:15.738" v="2187"/>
          <ac:spMkLst>
            <pc:docMk/>
            <pc:sldMk cId="41280815" sldId="260"/>
            <ac:spMk id="2" creationId="{668E39FC-BBFD-F9B5-7533-EA819DFDA25F}"/>
          </ac:spMkLst>
        </pc:spChg>
        <pc:spChg chg="mod">
          <ac:chgData name="Tom Glynn" userId="7b80944d-1e93-41c3-aa5b-c1c1d09e6091" providerId="ADAL" clId="{98CCD932-5ADB-4882-9D45-96141E4E64DA}" dt="2026-03-20T19:09:17.936" v="2137" actId="20577"/>
          <ac:spMkLst>
            <pc:docMk/>
            <pc:sldMk cId="41280815" sldId="260"/>
            <ac:spMk id="3" creationId="{995AD6EA-A954-1765-FDD0-3C6F88FBDB84}"/>
          </ac:spMkLst>
        </pc:spChg>
      </pc:sldChg>
      <pc:sldChg chg="new del">
        <pc:chgData name="Tom Glynn" userId="7b80944d-1e93-41c3-aa5b-c1c1d09e6091" providerId="ADAL" clId="{98CCD932-5ADB-4882-9D45-96141E4E64DA}" dt="2026-03-20T19:02:08.172" v="1463" actId="680"/>
        <pc:sldMkLst>
          <pc:docMk/>
          <pc:sldMk cId="4227233410" sldId="260"/>
        </pc:sldMkLst>
      </pc:sldChg>
      <pc:sldChg chg="modSp add mod">
        <pc:chgData name="Tom Glynn" userId="7b80944d-1e93-41c3-aa5b-c1c1d09e6091" providerId="ADAL" clId="{98CCD932-5ADB-4882-9D45-96141E4E64DA}" dt="2026-03-20T19:39:00.183" v="2599" actId="20577"/>
        <pc:sldMkLst>
          <pc:docMk/>
          <pc:sldMk cId="3469089021" sldId="261"/>
        </pc:sldMkLst>
        <pc:spChg chg="mod">
          <ac:chgData name="Tom Glynn" userId="7b80944d-1e93-41c3-aa5b-c1c1d09e6091" providerId="ADAL" clId="{98CCD932-5ADB-4882-9D45-96141E4E64DA}" dt="2026-03-20T19:10:51.969" v="2217" actId="1076"/>
          <ac:spMkLst>
            <pc:docMk/>
            <pc:sldMk cId="3469089021" sldId="261"/>
            <ac:spMk id="2" creationId="{12203A79-5AAF-9E48-9304-96AA5176C80E}"/>
          </ac:spMkLst>
        </pc:spChg>
        <pc:spChg chg="mod">
          <ac:chgData name="Tom Glynn" userId="7b80944d-1e93-41c3-aa5b-c1c1d09e6091" providerId="ADAL" clId="{98CCD932-5ADB-4882-9D45-96141E4E64DA}" dt="2026-03-20T19:39:00.183" v="2599" actId="20577"/>
          <ac:spMkLst>
            <pc:docMk/>
            <pc:sldMk cId="3469089021" sldId="261"/>
            <ac:spMk id="3" creationId="{36525B28-A40D-25CF-02D6-6AD84EF118F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6BF5-9344-29C0-1712-9BA7C109C6F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BABA5E13-4879-9F87-AC6E-D589A6ECCF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09558C58-9589-1608-F343-16AADC2F3773}"/>
              </a:ext>
            </a:extLst>
          </p:cNvPr>
          <p:cNvSpPr>
            <a:spLocks noGrp="1"/>
          </p:cNvSpPr>
          <p:nvPr>
            <p:ph type="dt" sz="half" idx="10"/>
          </p:nvPr>
        </p:nvSpPr>
        <p:spPr/>
        <p:txBody>
          <a:bodyPr/>
          <a:lstStyle/>
          <a:p>
            <a:fld id="{966AA175-D88B-459A-96CC-F0C8DA00F765}" type="datetimeFigureOut">
              <a:rPr lang="en-GB" smtClean="0"/>
              <a:t>20/03/2026</a:t>
            </a:fld>
            <a:endParaRPr lang="en-GB"/>
          </a:p>
        </p:txBody>
      </p:sp>
      <p:sp>
        <p:nvSpPr>
          <p:cNvPr id="5" name="Footer Placeholder 4">
            <a:extLst>
              <a:ext uri="{FF2B5EF4-FFF2-40B4-BE49-F238E27FC236}">
                <a16:creationId xmlns:a16="http://schemas.microsoft.com/office/drawing/2014/main" id="{EA4E5781-D204-2354-B1EF-EC636DC0ECB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E6A0DDC-1182-08B9-BCE6-0ACC70B90CD5}"/>
              </a:ext>
            </a:extLst>
          </p:cNvPr>
          <p:cNvSpPr>
            <a:spLocks noGrp="1"/>
          </p:cNvSpPr>
          <p:nvPr>
            <p:ph type="sldNum" sz="quarter" idx="12"/>
          </p:nvPr>
        </p:nvSpPr>
        <p:spPr/>
        <p:txBody>
          <a:bodyPr/>
          <a:lstStyle/>
          <a:p>
            <a:fld id="{77212029-9E78-499D-8B95-4F01F0CA5B36}" type="slidenum">
              <a:rPr lang="en-GB" smtClean="0"/>
              <a:t>‹#›</a:t>
            </a:fld>
            <a:endParaRPr lang="en-GB"/>
          </a:p>
        </p:txBody>
      </p:sp>
    </p:spTree>
    <p:extLst>
      <p:ext uri="{BB962C8B-B14F-4D97-AF65-F5344CB8AC3E}">
        <p14:creationId xmlns:p14="http://schemas.microsoft.com/office/powerpoint/2010/main" val="28462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CBBF4-CAC0-5D77-5309-DB4FD99A6580}"/>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5F5BD106-6D9B-568A-E579-8A99DEEE1B3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E309742-B83A-485F-3CD7-FB3293006940}"/>
              </a:ext>
            </a:extLst>
          </p:cNvPr>
          <p:cNvSpPr>
            <a:spLocks noGrp="1"/>
          </p:cNvSpPr>
          <p:nvPr>
            <p:ph type="dt" sz="half" idx="10"/>
          </p:nvPr>
        </p:nvSpPr>
        <p:spPr/>
        <p:txBody>
          <a:bodyPr/>
          <a:lstStyle/>
          <a:p>
            <a:fld id="{966AA175-D88B-459A-96CC-F0C8DA00F765}" type="datetimeFigureOut">
              <a:rPr lang="en-GB" smtClean="0"/>
              <a:t>20/03/2026</a:t>
            </a:fld>
            <a:endParaRPr lang="en-GB"/>
          </a:p>
        </p:txBody>
      </p:sp>
      <p:sp>
        <p:nvSpPr>
          <p:cNvPr id="5" name="Footer Placeholder 4">
            <a:extLst>
              <a:ext uri="{FF2B5EF4-FFF2-40B4-BE49-F238E27FC236}">
                <a16:creationId xmlns:a16="http://schemas.microsoft.com/office/drawing/2014/main" id="{B3298A6A-041D-A79E-8D69-8A75627E00B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E9F7D61-CC07-1DAC-1CAD-B57CB120FDB8}"/>
              </a:ext>
            </a:extLst>
          </p:cNvPr>
          <p:cNvSpPr>
            <a:spLocks noGrp="1"/>
          </p:cNvSpPr>
          <p:nvPr>
            <p:ph type="sldNum" sz="quarter" idx="12"/>
          </p:nvPr>
        </p:nvSpPr>
        <p:spPr/>
        <p:txBody>
          <a:bodyPr/>
          <a:lstStyle/>
          <a:p>
            <a:fld id="{77212029-9E78-499D-8B95-4F01F0CA5B36}" type="slidenum">
              <a:rPr lang="en-GB" smtClean="0"/>
              <a:t>‹#›</a:t>
            </a:fld>
            <a:endParaRPr lang="en-GB"/>
          </a:p>
        </p:txBody>
      </p:sp>
    </p:spTree>
    <p:extLst>
      <p:ext uri="{BB962C8B-B14F-4D97-AF65-F5344CB8AC3E}">
        <p14:creationId xmlns:p14="http://schemas.microsoft.com/office/powerpoint/2010/main" val="128483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4BDE8-FABA-BDA6-61E0-247C63DEC98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7D7CC8E1-5C6C-7F67-4C7D-A84081A3516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B21243B-205E-CD7E-9883-AC5ADA082BB4}"/>
              </a:ext>
            </a:extLst>
          </p:cNvPr>
          <p:cNvSpPr>
            <a:spLocks noGrp="1"/>
          </p:cNvSpPr>
          <p:nvPr>
            <p:ph type="dt" sz="half" idx="10"/>
          </p:nvPr>
        </p:nvSpPr>
        <p:spPr/>
        <p:txBody>
          <a:bodyPr/>
          <a:lstStyle/>
          <a:p>
            <a:fld id="{966AA175-D88B-459A-96CC-F0C8DA00F765}" type="datetimeFigureOut">
              <a:rPr lang="en-GB" smtClean="0"/>
              <a:t>20/03/2026</a:t>
            </a:fld>
            <a:endParaRPr lang="en-GB"/>
          </a:p>
        </p:txBody>
      </p:sp>
      <p:sp>
        <p:nvSpPr>
          <p:cNvPr id="5" name="Footer Placeholder 4">
            <a:extLst>
              <a:ext uri="{FF2B5EF4-FFF2-40B4-BE49-F238E27FC236}">
                <a16:creationId xmlns:a16="http://schemas.microsoft.com/office/drawing/2014/main" id="{41D60F7F-AF2D-5A9F-E517-1131CF1F1F5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3776F99-B5EA-2B7B-6BC0-2410F3C888AA}"/>
              </a:ext>
            </a:extLst>
          </p:cNvPr>
          <p:cNvSpPr>
            <a:spLocks noGrp="1"/>
          </p:cNvSpPr>
          <p:nvPr>
            <p:ph type="sldNum" sz="quarter" idx="12"/>
          </p:nvPr>
        </p:nvSpPr>
        <p:spPr/>
        <p:txBody>
          <a:bodyPr/>
          <a:lstStyle/>
          <a:p>
            <a:fld id="{77212029-9E78-499D-8B95-4F01F0CA5B36}" type="slidenum">
              <a:rPr lang="en-GB" smtClean="0"/>
              <a:t>‹#›</a:t>
            </a:fld>
            <a:endParaRPr lang="en-GB"/>
          </a:p>
        </p:txBody>
      </p:sp>
    </p:spTree>
    <p:extLst>
      <p:ext uri="{BB962C8B-B14F-4D97-AF65-F5344CB8AC3E}">
        <p14:creationId xmlns:p14="http://schemas.microsoft.com/office/powerpoint/2010/main" val="3009367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8B198-8E71-C775-5581-BF0F2F96EDEB}"/>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9652E51F-3D44-BF7A-D14F-EA44E1E656D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D38378AD-341E-154D-E4E5-CD2C77CE08B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D081B500-CD05-4DD7-A621-E21213D50B70}"/>
              </a:ext>
            </a:extLst>
          </p:cNvPr>
          <p:cNvSpPr>
            <a:spLocks noGrp="1"/>
          </p:cNvSpPr>
          <p:nvPr>
            <p:ph type="dt" sz="half" idx="10"/>
          </p:nvPr>
        </p:nvSpPr>
        <p:spPr/>
        <p:txBody>
          <a:bodyPr/>
          <a:lstStyle/>
          <a:p>
            <a:fld id="{966AA175-D88B-459A-96CC-F0C8DA00F765}" type="datetimeFigureOut">
              <a:rPr lang="en-GB" smtClean="0"/>
              <a:t>20/03/2026</a:t>
            </a:fld>
            <a:endParaRPr lang="en-GB"/>
          </a:p>
        </p:txBody>
      </p:sp>
      <p:sp>
        <p:nvSpPr>
          <p:cNvPr id="6" name="Footer Placeholder 5">
            <a:extLst>
              <a:ext uri="{FF2B5EF4-FFF2-40B4-BE49-F238E27FC236}">
                <a16:creationId xmlns:a16="http://schemas.microsoft.com/office/drawing/2014/main" id="{E09F1F86-4B95-EA22-3B84-FEFCCBC6E76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8F6C0B4-EC31-64C8-588C-66B284F608D6}"/>
              </a:ext>
            </a:extLst>
          </p:cNvPr>
          <p:cNvSpPr>
            <a:spLocks noGrp="1"/>
          </p:cNvSpPr>
          <p:nvPr>
            <p:ph type="sldNum" sz="quarter" idx="12"/>
          </p:nvPr>
        </p:nvSpPr>
        <p:spPr/>
        <p:txBody>
          <a:bodyPr/>
          <a:lstStyle/>
          <a:p>
            <a:fld id="{77212029-9E78-499D-8B95-4F01F0CA5B36}" type="slidenum">
              <a:rPr lang="en-GB" smtClean="0"/>
              <a:t>‹#›</a:t>
            </a:fld>
            <a:endParaRPr lang="en-GB"/>
          </a:p>
        </p:txBody>
      </p:sp>
    </p:spTree>
    <p:extLst>
      <p:ext uri="{BB962C8B-B14F-4D97-AF65-F5344CB8AC3E}">
        <p14:creationId xmlns:p14="http://schemas.microsoft.com/office/powerpoint/2010/main" val="536260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0205F-F1A2-E731-3297-FA27B0BB2FBD}"/>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58DDBCDD-72A0-9509-32D1-E562FAF809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9E24C80-78BD-4DF0-95BE-E7309352F32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B2C4959F-A6DF-7402-3C44-03C3B5D09B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09304EE-F77F-4180-B3FF-983C01BE70D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AC4A285E-31A8-168F-7AF1-013BBC241E68}"/>
              </a:ext>
            </a:extLst>
          </p:cNvPr>
          <p:cNvSpPr>
            <a:spLocks noGrp="1"/>
          </p:cNvSpPr>
          <p:nvPr>
            <p:ph type="dt" sz="half" idx="10"/>
          </p:nvPr>
        </p:nvSpPr>
        <p:spPr/>
        <p:txBody>
          <a:bodyPr/>
          <a:lstStyle/>
          <a:p>
            <a:fld id="{966AA175-D88B-459A-96CC-F0C8DA00F765}" type="datetimeFigureOut">
              <a:rPr lang="en-GB" smtClean="0"/>
              <a:t>20/03/2026</a:t>
            </a:fld>
            <a:endParaRPr lang="en-GB"/>
          </a:p>
        </p:txBody>
      </p:sp>
      <p:sp>
        <p:nvSpPr>
          <p:cNvPr id="8" name="Footer Placeholder 7">
            <a:extLst>
              <a:ext uri="{FF2B5EF4-FFF2-40B4-BE49-F238E27FC236}">
                <a16:creationId xmlns:a16="http://schemas.microsoft.com/office/drawing/2014/main" id="{CFAAE63E-40E2-1F88-62FC-EEB68A2D30B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8BBCD1AF-0B1F-92DF-CE72-B2499D92CCCB}"/>
              </a:ext>
            </a:extLst>
          </p:cNvPr>
          <p:cNvSpPr>
            <a:spLocks noGrp="1"/>
          </p:cNvSpPr>
          <p:nvPr>
            <p:ph type="sldNum" sz="quarter" idx="12"/>
          </p:nvPr>
        </p:nvSpPr>
        <p:spPr/>
        <p:txBody>
          <a:bodyPr/>
          <a:lstStyle/>
          <a:p>
            <a:fld id="{77212029-9E78-499D-8B95-4F01F0CA5B36}" type="slidenum">
              <a:rPr lang="en-GB" smtClean="0"/>
              <a:t>‹#›</a:t>
            </a:fld>
            <a:endParaRPr lang="en-GB"/>
          </a:p>
        </p:txBody>
      </p:sp>
    </p:spTree>
    <p:extLst>
      <p:ext uri="{BB962C8B-B14F-4D97-AF65-F5344CB8AC3E}">
        <p14:creationId xmlns:p14="http://schemas.microsoft.com/office/powerpoint/2010/main" val="2806386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D9242-E418-DB76-3EB3-8BC3E70A281C}"/>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C13D486D-33C8-9CA5-4725-EE0A6987EE65}"/>
              </a:ext>
            </a:extLst>
          </p:cNvPr>
          <p:cNvSpPr>
            <a:spLocks noGrp="1"/>
          </p:cNvSpPr>
          <p:nvPr>
            <p:ph type="dt" sz="half" idx="10"/>
          </p:nvPr>
        </p:nvSpPr>
        <p:spPr/>
        <p:txBody>
          <a:bodyPr/>
          <a:lstStyle/>
          <a:p>
            <a:fld id="{966AA175-D88B-459A-96CC-F0C8DA00F765}" type="datetimeFigureOut">
              <a:rPr lang="en-GB" smtClean="0"/>
              <a:t>20/03/2026</a:t>
            </a:fld>
            <a:endParaRPr lang="en-GB"/>
          </a:p>
        </p:txBody>
      </p:sp>
      <p:sp>
        <p:nvSpPr>
          <p:cNvPr id="4" name="Footer Placeholder 3">
            <a:extLst>
              <a:ext uri="{FF2B5EF4-FFF2-40B4-BE49-F238E27FC236}">
                <a16:creationId xmlns:a16="http://schemas.microsoft.com/office/drawing/2014/main" id="{13FE623E-2C30-493E-E0E7-735839FC526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6069300-3646-B39F-31FD-895C2FCA914D}"/>
              </a:ext>
            </a:extLst>
          </p:cNvPr>
          <p:cNvSpPr>
            <a:spLocks noGrp="1"/>
          </p:cNvSpPr>
          <p:nvPr>
            <p:ph type="sldNum" sz="quarter" idx="12"/>
          </p:nvPr>
        </p:nvSpPr>
        <p:spPr/>
        <p:txBody>
          <a:bodyPr/>
          <a:lstStyle/>
          <a:p>
            <a:fld id="{77212029-9E78-499D-8B95-4F01F0CA5B36}" type="slidenum">
              <a:rPr lang="en-GB" smtClean="0"/>
              <a:t>‹#›</a:t>
            </a:fld>
            <a:endParaRPr lang="en-GB"/>
          </a:p>
        </p:txBody>
      </p:sp>
    </p:spTree>
    <p:extLst>
      <p:ext uri="{BB962C8B-B14F-4D97-AF65-F5344CB8AC3E}">
        <p14:creationId xmlns:p14="http://schemas.microsoft.com/office/powerpoint/2010/main" val="17668170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ACD9E0-F4FE-D4D0-5B66-8E94BA001B1A}"/>
              </a:ext>
            </a:extLst>
          </p:cNvPr>
          <p:cNvSpPr>
            <a:spLocks noGrp="1"/>
          </p:cNvSpPr>
          <p:nvPr>
            <p:ph type="dt" sz="half" idx="10"/>
          </p:nvPr>
        </p:nvSpPr>
        <p:spPr/>
        <p:txBody>
          <a:bodyPr/>
          <a:lstStyle/>
          <a:p>
            <a:fld id="{966AA175-D88B-459A-96CC-F0C8DA00F765}" type="datetimeFigureOut">
              <a:rPr lang="en-GB" smtClean="0"/>
              <a:t>20/03/2026</a:t>
            </a:fld>
            <a:endParaRPr lang="en-GB"/>
          </a:p>
        </p:txBody>
      </p:sp>
      <p:sp>
        <p:nvSpPr>
          <p:cNvPr id="3" name="Footer Placeholder 2">
            <a:extLst>
              <a:ext uri="{FF2B5EF4-FFF2-40B4-BE49-F238E27FC236}">
                <a16:creationId xmlns:a16="http://schemas.microsoft.com/office/drawing/2014/main" id="{F5E5E417-86C1-5A77-41B5-6A3E830BCA9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530309ED-C62C-80B7-64DA-CFA103A88CAF}"/>
              </a:ext>
            </a:extLst>
          </p:cNvPr>
          <p:cNvSpPr>
            <a:spLocks noGrp="1"/>
          </p:cNvSpPr>
          <p:nvPr>
            <p:ph type="sldNum" sz="quarter" idx="12"/>
          </p:nvPr>
        </p:nvSpPr>
        <p:spPr/>
        <p:txBody>
          <a:bodyPr/>
          <a:lstStyle/>
          <a:p>
            <a:fld id="{77212029-9E78-499D-8B95-4F01F0CA5B36}" type="slidenum">
              <a:rPr lang="en-GB" smtClean="0"/>
              <a:t>‹#›</a:t>
            </a:fld>
            <a:endParaRPr lang="en-GB"/>
          </a:p>
        </p:txBody>
      </p:sp>
    </p:spTree>
    <p:extLst>
      <p:ext uri="{BB962C8B-B14F-4D97-AF65-F5344CB8AC3E}">
        <p14:creationId xmlns:p14="http://schemas.microsoft.com/office/powerpoint/2010/main" val="1108872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3397E-9749-8B8B-0371-293ED29C601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340B6602-A4E1-6D0F-8607-C49A69F71E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91F39C75-6967-3AFF-5384-751E476794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739589F-D212-455A-7645-A652D38CD262}"/>
              </a:ext>
            </a:extLst>
          </p:cNvPr>
          <p:cNvSpPr>
            <a:spLocks noGrp="1"/>
          </p:cNvSpPr>
          <p:nvPr>
            <p:ph type="dt" sz="half" idx="10"/>
          </p:nvPr>
        </p:nvSpPr>
        <p:spPr/>
        <p:txBody>
          <a:bodyPr/>
          <a:lstStyle/>
          <a:p>
            <a:fld id="{966AA175-D88B-459A-96CC-F0C8DA00F765}" type="datetimeFigureOut">
              <a:rPr lang="en-GB" smtClean="0"/>
              <a:t>20/03/2026</a:t>
            </a:fld>
            <a:endParaRPr lang="en-GB"/>
          </a:p>
        </p:txBody>
      </p:sp>
      <p:sp>
        <p:nvSpPr>
          <p:cNvPr id="6" name="Footer Placeholder 5">
            <a:extLst>
              <a:ext uri="{FF2B5EF4-FFF2-40B4-BE49-F238E27FC236}">
                <a16:creationId xmlns:a16="http://schemas.microsoft.com/office/drawing/2014/main" id="{43A6DF54-1708-D283-2D4F-BFD8C2A4379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C67E580-2DA2-6D02-D374-D1EE2DAE51A0}"/>
              </a:ext>
            </a:extLst>
          </p:cNvPr>
          <p:cNvSpPr>
            <a:spLocks noGrp="1"/>
          </p:cNvSpPr>
          <p:nvPr>
            <p:ph type="sldNum" sz="quarter" idx="12"/>
          </p:nvPr>
        </p:nvSpPr>
        <p:spPr/>
        <p:txBody>
          <a:bodyPr/>
          <a:lstStyle/>
          <a:p>
            <a:fld id="{77212029-9E78-499D-8B95-4F01F0CA5B36}" type="slidenum">
              <a:rPr lang="en-GB" smtClean="0"/>
              <a:t>‹#›</a:t>
            </a:fld>
            <a:endParaRPr lang="en-GB"/>
          </a:p>
        </p:txBody>
      </p:sp>
    </p:spTree>
    <p:extLst>
      <p:ext uri="{BB962C8B-B14F-4D97-AF65-F5344CB8AC3E}">
        <p14:creationId xmlns:p14="http://schemas.microsoft.com/office/powerpoint/2010/main" val="15015177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024A2-7BB1-245D-2A89-5565F098A55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1BB17E8A-8973-C965-B5AE-5803C1622D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A2BDE805-58D6-83D8-571D-68B03E3381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2B69EEB-00D4-10BD-D05F-43E969BDA59E}"/>
              </a:ext>
            </a:extLst>
          </p:cNvPr>
          <p:cNvSpPr>
            <a:spLocks noGrp="1"/>
          </p:cNvSpPr>
          <p:nvPr>
            <p:ph type="dt" sz="half" idx="10"/>
          </p:nvPr>
        </p:nvSpPr>
        <p:spPr/>
        <p:txBody>
          <a:bodyPr/>
          <a:lstStyle/>
          <a:p>
            <a:fld id="{966AA175-D88B-459A-96CC-F0C8DA00F765}" type="datetimeFigureOut">
              <a:rPr lang="en-GB" smtClean="0"/>
              <a:t>20/03/2026</a:t>
            </a:fld>
            <a:endParaRPr lang="en-GB"/>
          </a:p>
        </p:txBody>
      </p:sp>
      <p:sp>
        <p:nvSpPr>
          <p:cNvPr id="6" name="Footer Placeholder 5">
            <a:extLst>
              <a:ext uri="{FF2B5EF4-FFF2-40B4-BE49-F238E27FC236}">
                <a16:creationId xmlns:a16="http://schemas.microsoft.com/office/drawing/2014/main" id="{827C75C6-00F0-E079-78E6-F7B4969CB37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A556651-5DA5-4353-C6E8-30118B41CF03}"/>
              </a:ext>
            </a:extLst>
          </p:cNvPr>
          <p:cNvSpPr>
            <a:spLocks noGrp="1"/>
          </p:cNvSpPr>
          <p:nvPr>
            <p:ph type="sldNum" sz="quarter" idx="12"/>
          </p:nvPr>
        </p:nvSpPr>
        <p:spPr/>
        <p:txBody>
          <a:bodyPr/>
          <a:lstStyle/>
          <a:p>
            <a:fld id="{77212029-9E78-499D-8B95-4F01F0CA5B36}" type="slidenum">
              <a:rPr lang="en-GB" smtClean="0"/>
              <a:t>‹#›</a:t>
            </a:fld>
            <a:endParaRPr lang="en-GB"/>
          </a:p>
        </p:txBody>
      </p:sp>
    </p:spTree>
    <p:extLst>
      <p:ext uri="{BB962C8B-B14F-4D97-AF65-F5344CB8AC3E}">
        <p14:creationId xmlns:p14="http://schemas.microsoft.com/office/powerpoint/2010/main" val="29235408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3AF1A-FC53-95FF-CEF7-C52D27BDB5D3}"/>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061D34B7-0062-9299-A992-3B36608D985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29A16D5-8F12-3278-EDF6-5F2D14B9F249}"/>
              </a:ext>
            </a:extLst>
          </p:cNvPr>
          <p:cNvSpPr>
            <a:spLocks noGrp="1"/>
          </p:cNvSpPr>
          <p:nvPr>
            <p:ph type="dt" sz="half" idx="10"/>
          </p:nvPr>
        </p:nvSpPr>
        <p:spPr/>
        <p:txBody>
          <a:bodyPr/>
          <a:lstStyle/>
          <a:p>
            <a:fld id="{966AA175-D88B-459A-96CC-F0C8DA00F765}" type="datetimeFigureOut">
              <a:rPr lang="en-GB" smtClean="0"/>
              <a:t>20/03/2026</a:t>
            </a:fld>
            <a:endParaRPr lang="en-GB"/>
          </a:p>
        </p:txBody>
      </p:sp>
      <p:sp>
        <p:nvSpPr>
          <p:cNvPr id="5" name="Footer Placeholder 4">
            <a:extLst>
              <a:ext uri="{FF2B5EF4-FFF2-40B4-BE49-F238E27FC236}">
                <a16:creationId xmlns:a16="http://schemas.microsoft.com/office/drawing/2014/main" id="{43ECADCF-EF23-C915-391F-F2E1E0B09D0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5D9F73F-942F-F11F-8B65-456E6923B2BE}"/>
              </a:ext>
            </a:extLst>
          </p:cNvPr>
          <p:cNvSpPr>
            <a:spLocks noGrp="1"/>
          </p:cNvSpPr>
          <p:nvPr>
            <p:ph type="sldNum" sz="quarter" idx="12"/>
          </p:nvPr>
        </p:nvSpPr>
        <p:spPr/>
        <p:txBody>
          <a:bodyPr/>
          <a:lstStyle/>
          <a:p>
            <a:fld id="{77212029-9E78-499D-8B95-4F01F0CA5B36}" type="slidenum">
              <a:rPr lang="en-GB" smtClean="0"/>
              <a:t>‹#›</a:t>
            </a:fld>
            <a:endParaRPr lang="en-GB"/>
          </a:p>
        </p:txBody>
      </p:sp>
    </p:spTree>
    <p:extLst>
      <p:ext uri="{BB962C8B-B14F-4D97-AF65-F5344CB8AC3E}">
        <p14:creationId xmlns:p14="http://schemas.microsoft.com/office/powerpoint/2010/main" val="41493143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1EFDC7-5B65-E3EA-C31E-D44E10A60731}"/>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9543A476-5B05-0484-30A6-79FC086D6144}"/>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2E10DFF-3AB0-1FB9-8494-D4D28ADADC7D}"/>
              </a:ext>
            </a:extLst>
          </p:cNvPr>
          <p:cNvSpPr>
            <a:spLocks noGrp="1"/>
          </p:cNvSpPr>
          <p:nvPr>
            <p:ph type="dt" sz="half" idx="10"/>
          </p:nvPr>
        </p:nvSpPr>
        <p:spPr/>
        <p:txBody>
          <a:bodyPr/>
          <a:lstStyle/>
          <a:p>
            <a:fld id="{966AA175-D88B-459A-96CC-F0C8DA00F765}" type="datetimeFigureOut">
              <a:rPr lang="en-GB" smtClean="0"/>
              <a:t>20/03/2026</a:t>
            </a:fld>
            <a:endParaRPr lang="en-GB"/>
          </a:p>
        </p:txBody>
      </p:sp>
      <p:sp>
        <p:nvSpPr>
          <p:cNvPr id="5" name="Footer Placeholder 4">
            <a:extLst>
              <a:ext uri="{FF2B5EF4-FFF2-40B4-BE49-F238E27FC236}">
                <a16:creationId xmlns:a16="http://schemas.microsoft.com/office/drawing/2014/main" id="{98F1088D-ABFD-DC36-5015-4781143C70A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072E5AA-D670-84EB-9471-894A6B6CB3BD}"/>
              </a:ext>
            </a:extLst>
          </p:cNvPr>
          <p:cNvSpPr>
            <a:spLocks noGrp="1"/>
          </p:cNvSpPr>
          <p:nvPr>
            <p:ph type="sldNum" sz="quarter" idx="12"/>
          </p:nvPr>
        </p:nvSpPr>
        <p:spPr/>
        <p:txBody>
          <a:bodyPr/>
          <a:lstStyle/>
          <a:p>
            <a:fld id="{77212029-9E78-499D-8B95-4F01F0CA5B36}" type="slidenum">
              <a:rPr lang="en-GB" smtClean="0"/>
              <a:t>‹#›</a:t>
            </a:fld>
            <a:endParaRPr lang="en-GB"/>
          </a:p>
        </p:txBody>
      </p:sp>
    </p:spTree>
    <p:extLst>
      <p:ext uri="{BB962C8B-B14F-4D97-AF65-F5344CB8AC3E}">
        <p14:creationId xmlns:p14="http://schemas.microsoft.com/office/powerpoint/2010/main" val="20892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161966-07A5-5800-8594-425A9BD9FA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EB4FDDB1-3612-B051-5EC5-63EC7CE819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943ADAF-B886-B852-7034-ACB28ED5CB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66AA175-D88B-459A-96CC-F0C8DA00F765}" type="datetimeFigureOut">
              <a:rPr lang="en-GB" smtClean="0"/>
              <a:t>20/03/2026</a:t>
            </a:fld>
            <a:endParaRPr lang="en-GB"/>
          </a:p>
        </p:txBody>
      </p:sp>
      <p:sp>
        <p:nvSpPr>
          <p:cNvPr id="5" name="Footer Placeholder 4">
            <a:extLst>
              <a:ext uri="{FF2B5EF4-FFF2-40B4-BE49-F238E27FC236}">
                <a16:creationId xmlns:a16="http://schemas.microsoft.com/office/drawing/2014/main" id="{8BDD2A14-2EFE-DFF9-84B5-4C69674E6B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37986EB7-FDE3-38CF-E25B-2A547AF6C3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7212029-9E78-499D-8B95-4F01F0CA5B36}" type="slidenum">
              <a:rPr lang="en-GB" smtClean="0"/>
              <a:t>‹#›</a:t>
            </a:fld>
            <a:endParaRPr lang="en-GB"/>
          </a:p>
        </p:txBody>
      </p:sp>
    </p:spTree>
    <p:extLst>
      <p:ext uri="{BB962C8B-B14F-4D97-AF65-F5344CB8AC3E}">
        <p14:creationId xmlns:p14="http://schemas.microsoft.com/office/powerpoint/2010/main" val="28174980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CDE9F7"/>
            </a:gs>
            <a:gs pos="0">
              <a:schemeClr val="accent1">
                <a:lumMod val="5000"/>
                <a:lumOff val="95000"/>
              </a:schemeClr>
            </a:gs>
            <a:gs pos="87000">
              <a:srgbClr val="0070C0"/>
            </a:gs>
            <a:gs pos="95000">
              <a:schemeClr val="accent1">
                <a:lumMod val="45000"/>
                <a:lumOff val="55000"/>
              </a:schemeClr>
            </a:gs>
            <a:gs pos="63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F502B-84AA-6859-366C-890A24C302E8}"/>
              </a:ext>
            </a:extLst>
          </p:cNvPr>
          <p:cNvSpPr>
            <a:spLocks noGrp="1"/>
          </p:cNvSpPr>
          <p:nvPr>
            <p:ph type="ctrTitle"/>
          </p:nvPr>
        </p:nvSpPr>
        <p:spPr>
          <a:xfrm>
            <a:off x="164538" y="283221"/>
            <a:ext cx="9144000" cy="1834912"/>
          </a:xfrm>
        </p:spPr>
        <p:txBody>
          <a:bodyPr>
            <a:normAutofit/>
          </a:bodyPr>
          <a:lstStyle/>
          <a:p>
            <a:pPr algn="l"/>
            <a:r>
              <a:rPr lang="en-GB" sz="3600" b="1" dirty="0"/>
              <a:t>Predictive Modelling Assignment: Breast Cancer Wisconsin </a:t>
            </a:r>
            <a:br>
              <a:rPr lang="en-GB" sz="3600" b="1" dirty="0"/>
            </a:br>
            <a:endParaRPr lang="en-GB" sz="3600" b="1" dirty="0"/>
          </a:p>
        </p:txBody>
      </p:sp>
      <p:sp>
        <p:nvSpPr>
          <p:cNvPr id="3" name="Subtitle 2">
            <a:extLst>
              <a:ext uri="{FF2B5EF4-FFF2-40B4-BE49-F238E27FC236}">
                <a16:creationId xmlns:a16="http://schemas.microsoft.com/office/drawing/2014/main" id="{F8011F5D-17E8-F555-B36A-1D11A97A2F75}"/>
              </a:ext>
            </a:extLst>
          </p:cNvPr>
          <p:cNvSpPr>
            <a:spLocks noGrp="1"/>
          </p:cNvSpPr>
          <p:nvPr>
            <p:ph type="subTitle" idx="1"/>
          </p:nvPr>
        </p:nvSpPr>
        <p:spPr>
          <a:xfrm>
            <a:off x="164538" y="1692165"/>
            <a:ext cx="11862924" cy="4550979"/>
          </a:xfrm>
        </p:spPr>
        <p:txBody>
          <a:bodyPr>
            <a:normAutofit/>
          </a:bodyPr>
          <a:lstStyle/>
          <a:p>
            <a:pPr algn="l"/>
            <a:r>
              <a:rPr lang="en-GB" b="1" dirty="0"/>
              <a:t>Goal: </a:t>
            </a:r>
            <a:r>
              <a:rPr lang="en-GB" dirty="0"/>
              <a:t>To classify observations (tumours) as Benign or Malignant based on cell nucleus measurements using a fine needle aspirate (FNA) image.</a:t>
            </a:r>
          </a:p>
          <a:p>
            <a:pPr algn="l"/>
            <a:r>
              <a:rPr lang="en-GB" dirty="0"/>
              <a:t>Normally full biopsies are performed to determine whether breast tumours are benign or malignant. This is an invasive, timely &amp; costly procedure.  </a:t>
            </a:r>
          </a:p>
          <a:p>
            <a:pPr algn="l"/>
            <a:r>
              <a:rPr lang="en-GB" dirty="0"/>
              <a:t>Alternatively, fine needles asperates is a less invasive, cheaper, &amp; efficient  procedure. FNA’s extract cell nuclei features to assess whether tumours are benign or malignant. But its performance can be less reliable. </a:t>
            </a:r>
          </a:p>
          <a:p>
            <a:pPr algn="l"/>
            <a:r>
              <a:rPr lang="en-GB" dirty="0"/>
              <a:t>Therefore, the goal of this task is to build a model that can classify and predict breast cancer tumours as benign or malignant using the information from the fine-needle aspirates. </a:t>
            </a:r>
          </a:p>
        </p:txBody>
      </p:sp>
      <p:pic>
        <p:nvPicPr>
          <p:cNvPr id="4" name="Picture 3">
            <a:extLst>
              <a:ext uri="{FF2B5EF4-FFF2-40B4-BE49-F238E27FC236}">
                <a16:creationId xmlns:a16="http://schemas.microsoft.com/office/drawing/2014/main" id="{0AB5D693-ACEB-4020-AFA4-8015D40884E2}"/>
              </a:ext>
            </a:extLst>
          </p:cNvPr>
          <p:cNvPicPr>
            <a:picLocks noChangeAspect="1"/>
          </p:cNvPicPr>
          <p:nvPr/>
        </p:nvPicPr>
        <p:blipFill>
          <a:blip r:embed="rId2"/>
          <a:stretch>
            <a:fillRect/>
          </a:stretch>
        </p:blipFill>
        <p:spPr>
          <a:xfrm>
            <a:off x="10285023" y="144966"/>
            <a:ext cx="1281432" cy="121488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21225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CDE9F7"/>
            </a:gs>
            <a:gs pos="0">
              <a:schemeClr val="accent1">
                <a:lumMod val="5000"/>
                <a:lumOff val="95000"/>
              </a:schemeClr>
            </a:gs>
            <a:gs pos="87000">
              <a:srgbClr val="0070C0"/>
            </a:gs>
            <a:gs pos="95000">
              <a:schemeClr val="accent1">
                <a:lumMod val="45000"/>
                <a:lumOff val="55000"/>
              </a:schemeClr>
            </a:gs>
            <a:gs pos="63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B29B7765-6DA3-4315-EA2B-AB5FFD46FC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388BA3-768D-660A-F396-067F6A75D1FD}"/>
              </a:ext>
            </a:extLst>
          </p:cNvPr>
          <p:cNvSpPr>
            <a:spLocks noGrp="1"/>
          </p:cNvSpPr>
          <p:nvPr>
            <p:ph type="ctrTitle"/>
          </p:nvPr>
        </p:nvSpPr>
        <p:spPr>
          <a:xfrm>
            <a:off x="164538" y="283221"/>
            <a:ext cx="9144000" cy="1834912"/>
          </a:xfrm>
        </p:spPr>
        <p:txBody>
          <a:bodyPr>
            <a:normAutofit/>
          </a:bodyPr>
          <a:lstStyle/>
          <a:p>
            <a:pPr algn="l"/>
            <a:r>
              <a:rPr lang="en-GB" sz="3600" b="1" dirty="0"/>
              <a:t>The Dataset: </a:t>
            </a:r>
            <a:br>
              <a:rPr lang="en-GB" sz="3600" b="1" dirty="0"/>
            </a:br>
            <a:endParaRPr lang="en-GB" sz="3600" b="1" dirty="0"/>
          </a:p>
        </p:txBody>
      </p:sp>
      <p:sp>
        <p:nvSpPr>
          <p:cNvPr id="3" name="Subtitle 2">
            <a:extLst>
              <a:ext uri="{FF2B5EF4-FFF2-40B4-BE49-F238E27FC236}">
                <a16:creationId xmlns:a16="http://schemas.microsoft.com/office/drawing/2014/main" id="{656F04BE-C305-8A84-3F3F-ECF84013BC5E}"/>
              </a:ext>
            </a:extLst>
          </p:cNvPr>
          <p:cNvSpPr>
            <a:spLocks noGrp="1"/>
          </p:cNvSpPr>
          <p:nvPr>
            <p:ph type="subTitle" idx="1"/>
          </p:nvPr>
        </p:nvSpPr>
        <p:spPr>
          <a:xfrm>
            <a:off x="164538" y="1692165"/>
            <a:ext cx="11862924" cy="4550979"/>
          </a:xfrm>
        </p:spPr>
        <p:txBody>
          <a:bodyPr>
            <a:normAutofit fontScale="92500" lnSpcReduction="10000"/>
          </a:bodyPr>
          <a:lstStyle/>
          <a:p>
            <a:pPr algn="l"/>
            <a:r>
              <a:rPr lang="en-GB" dirty="0"/>
              <a:t>The dataset is from an observational cross-sectional study on women who underwent diagnostic evaluation (fine-needle aspiration) to assess if their breast cancer tumour were benign or malignant. They were recorded within the Wisconsin Breast Cancer Diagnostic database in the 1990’s. Information around the dataset is available in the </a:t>
            </a:r>
            <a:r>
              <a:rPr lang="en-GB" i="1" dirty="0"/>
              <a:t>“Nuclear Feature Extraction for Breast </a:t>
            </a:r>
            <a:r>
              <a:rPr lang="en-GB" i="1" dirty="0" err="1"/>
              <a:t>Tumor</a:t>
            </a:r>
            <a:r>
              <a:rPr lang="en-GB" i="1" dirty="0"/>
              <a:t> Diagnosis”</a:t>
            </a:r>
            <a:r>
              <a:rPr lang="en-GB" dirty="0"/>
              <a:t> study. </a:t>
            </a:r>
          </a:p>
          <a:p>
            <a:pPr algn="l"/>
            <a:r>
              <a:rPr lang="en-GB" dirty="0"/>
              <a:t>The dataset contains 569 observations and 30 predictor variables (cell nuclei features (such as the radius, perimeter, area, compactness, smoothness, concavity, concave points, symmetry, fractal dimension and texture) each measured three ways (mean, standard error, and largest value) ), and a binary outcome classifying 357 benign and 212 malignant tumours overall. There are no missing values.</a:t>
            </a:r>
          </a:p>
          <a:p>
            <a:pPr algn="l"/>
            <a:endParaRPr lang="en-GB" dirty="0"/>
          </a:p>
          <a:p>
            <a:pPr algn="l"/>
            <a:r>
              <a:rPr lang="en-GB" dirty="0"/>
              <a:t>All confusion tables &amp; accuracy scores were assess with a classification threshold of  0.3 prioritizing sensitivity (minimising false negatives). This is because the risk of a false negative out ways a false positive. </a:t>
            </a:r>
            <a:endParaRPr lang="en-GB" b="1" dirty="0"/>
          </a:p>
        </p:txBody>
      </p:sp>
      <p:pic>
        <p:nvPicPr>
          <p:cNvPr id="4" name="Picture 3">
            <a:extLst>
              <a:ext uri="{FF2B5EF4-FFF2-40B4-BE49-F238E27FC236}">
                <a16:creationId xmlns:a16="http://schemas.microsoft.com/office/drawing/2014/main" id="{96368D37-58C4-DDA4-6D09-9C18381A7DCA}"/>
              </a:ext>
            </a:extLst>
          </p:cNvPr>
          <p:cNvPicPr>
            <a:picLocks noChangeAspect="1"/>
          </p:cNvPicPr>
          <p:nvPr/>
        </p:nvPicPr>
        <p:blipFill>
          <a:blip r:embed="rId2"/>
          <a:stretch>
            <a:fillRect/>
          </a:stretch>
        </p:blipFill>
        <p:spPr>
          <a:xfrm>
            <a:off x="10285023" y="144966"/>
            <a:ext cx="1281432" cy="121488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806833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2E534D-D2BB-B747-2A8B-697C8BAE2CF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226A0BC-1BA6-7B73-5E7B-3293571481DF}"/>
              </a:ext>
            </a:extLst>
          </p:cNvPr>
          <p:cNvPicPr>
            <a:picLocks noChangeAspect="1"/>
          </p:cNvPicPr>
          <p:nvPr/>
        </p:nvPicPr>
        <p:blipFill>
          <a:blip r:embed="rId2"/>
          <a:srcRect l="5883" t="1904" r="1975" b="-458"/>
          <a:stretch>
            <a:fillRect/>
          </a:stretch>
        </p:blipFill>
        <p:spPr>
          <a:xfrm>
            <a:off x="-3047" y="0"/>
            <a:ext cx="8909824" cy="7504770"/>
          </a:xfrm>
          <a:prstGeom prst="rect">
            <a:avLst/>
          </a:prstGeom>
        </p:spPr>
      </p:pic>
      <p:sp>
        <p:nvSpPr>
          <p:cNvPr id="12" name="Rectangle 11">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4E25ACF-4787-E78B-7417-29C1D59AEFCA}"/>
              </a:ext>
            </a:extLst>
          </p:cNvPr>
          <p:cNvSpPr>
            <a:spLocks noGrp="1"/>
          </p:cNvSpPr>
          <p:nvPr>
            <p:ph type="ctrTitle"/>
          </p:nvPr>
        </p:nvSpPr>
        <p:spPr>
          <a:xfrm>
            <a:off x="7467051" y="22057"/>
            <a:ext cx="3445765" cy="2206709"/>
          </a:xfrm>
          <a:noFill/>
        </p:spPr>
        <p:txBody>
          <a:bodyPr>
            <a:normAutofit/>
          </a:bodyPr>
          <a:lstStyle/>
          <a:p>
            <a:r>
              <a:rPr lang="en-GB" sz="4000" b="1" dirty="0"/>
              <a:t>Initial Assessment</a:t>
            </a:r>
            <a:r>
              <a:rPr lang="en-GB" sz="4400" b="1" dirty="0"/>
              <a:t>: </a:t>
            </a:r>
            <a:br>
              <a:rPr lang="en-GB" sz="4400" b="1" dirty="0"/>
            </a:br>
            <a:endParaRPr lang="en-GB" sz="4400" b="1" dirty="0"/>
          </a:p>
        </p:txBody>
      </p:sp>
      <p:sp>
        <p:nvSpPr>
          <p:cNvPr id="3" name="Subtitle 2">
            <a:extLst>
              <a:ext uri="{FF2B5EF4-FFF2-40B4-BE49-F238E27FC236}">
                <a16:creationId xmlns:a16="http://schemas.microsoft.com/office/drawing/2014/main" id="{F349E993-3261-78E0-CAEB-ADABAE2B6090}"/>
              </a:ext>
            </a:extLst>
          </p:cNvPr>
          <p:cNvSpPr>
            <a:spLocks noGrp="1"/>
          </p:cNvSpPr>
          <p:nvPr>
            <p:ph type="subTitle" idx="1"/>
          </p:nvPr>
        </p:nvSpPr>
        <p:spPr>
          <a:xfrm>
            <a:off x="7849273" y="1943681"/>
            <a:ext cx="3060497" cy="3502259"/>
          </a:xfrm>
          <a:noFill/>
        </p:spPr>
        <p:txBody>
          <a:bodyPr>
            <a:normAutofit fontScale="77500" lnSpcReduction="20000"/>
          </a:bodyPr>
          <a:lstStyle/>
          <a:p>
            <a:r>
              <a:rPr lang="en-GB" dirty="0"/>
              <a:t>First, I assessed for correlations in the predictors, darker colours indicating stronger correlation. I found 78 predictors to be highly correlated (correlation&gt;.7). This would be expected as most predictors are similar measurements. During this step I also reviewed summary stat values, ensured no missing variables and split the data into a test/ train split.  </a:t>
            </a:r>
          </a:p>
        </p:txBody>
      </p:sp>
    </p:spTree>
    <p:extLst>
      <p:ext uri="{BB962C8B-B14F-4D97-AF65-F5344CB8AC3E}">
        <p14:creationId xmlns:p14="http://schemas.microsoft.com/office/powerpoint/2010/main" val="32662404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CDE9F7"/>
            </a:gs>
            <a:gs pos="0">
              <a:schemeClr val="accent1">
                <a:lumMod val="5000"/>
                <a:lumOff val="95000"/>
              </a:schemeClr>
            </a:gs>
            <a:gs pos="87000">
              <a:srgbClr val="0070C0"/>
            </a:gs>
            <a:gs pos="95000">
              <a:schemeClr val="accent1">
                <a:lumMod val="45000"/>
                <a:lumOff val="55000"/>
              </a:schemeClr>
            </a:gs>
            <a:gs pos="63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F70D7B8A-3483-BA42-9A51-0C98478D2A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8E39FC-BBFD-F9B5-7533-EA819DFDA25F}"/>
              </a:ext>
            </a:extLst>
          </p:cNvPr>
          <p:cNvSpPr>
            <a:spLocks noGrp="1"/>
          </p:cNvSpPr>
          <p:nvPr>
            <p:ph type="ctrTitle"/>
          </p:nvPr>
        </p:nvSpPr>
        <p:spPr>
          <a:xfrm>
            <a:off x="0" y="387010"/>
            <a:ext cx="9144000" cy="1138997"/>
          </a:xfrm>
        </p:spPr>
        <p:txBody>
          <a:bodyPr>
            <a:normAutofit fontScale="90000"/>
          </a:bodyPr>
          <a:lstStyle/>
          <a:p>
            <a:r>
              <a:rPr lang="en-GB" sz="3600" b="1" dirty="0"/>
              <a:t>Logistic Regression, Subset Selection, Shrinkage Methods, and Principle Component Analysis : </a:t>
            </a:r>
            <a:br>
              <a:rPr lang="en-GB" sz="3600" b="1" dirty="0"/>
            </a:br>
            <a:endParaRPr lang="en-GB" sz="3600" b="1" dirty="0"/>
          </a:p>
        </p:txBody>
      </p:sp>
      <p:sp>
        <p:nvSpPr>
          <p:cNvPr id="3" name="Subtitle 2">
            <a:extLst>
              <a:ext uri="{FF2B5EF4-FFF2-40B4-BE49-F238E27FC236}">
                <a16:creationId xmlns:a16="http://schemas.microsoft.com/office/drawing/2014/main" id="{995AD6EA-A954-1765-FDD0-3C6F88FBDB84}"/>
              </a:ext>
            </a:extLst>
          </p:cNvPr>
          <p:cNvSpPr>
            <a:spLocks noGrp="1"/>
          </p:cNvSpPr>
          <p:nvPr>
            <p:ph type="subTitle" idx="1"/>
          </p:nvPr>
        </p:nvSpPr>
        <p:spPr>
          <a:xfrm>
            <a:off x="164538" y="1692165"/>
            <a:ext cx="11862924" cy="4550979"/>
          </a:xfrm>
        </p:spPr>
        <p:txBody>
          <a:bodyPr>
            <a:normAutofit fontScale="70000" lnSpcReduction="20000"/>
          </a:bodyPr>
          <a:lstStyle/>
          <a:p>
            <a:pPr marL="342900" indent="-342900" algn="l">
              <a:buFont typeface="Arial" panose="020B0604020202020204" pitchFamily="34" charset="0"/>
              <a:buChar char="•"/>
            </a:pPr>
            <a:r>
              <a:rPr lang="en-GB" dirty="0"/>
              <a:t>Fitting a logistic regression model, the model wouldn’t converge due to the strong predictive power (predictors being very good at predicting the response). Contrary to expected, logistic regression struggles with this and it causes many predictions to be 0 or 1 where the model essentially fails. Therefore, it’s values must be considered with caution. </a:t>
            </a:r>
          </a:p>
          <a:p>
            <a:pPr marL="342900" indent="-342900" algn="l">
              <a:buFont typeface="Arial" panose="020B0604020202020204" pitchFamily="34" charset="0"/>
              <a:buChar char="•"/>
            </a:pPr>
            <a:r>
              <a:rPr lang="en-GB" b="1" dirty="0"/>
              <a:t>Logistic Regression: </a:t>
            </a:r>
            <a:r>
              <a:rPr lang="en-GB" dirty="0"/>
              <a:t>is good for its simplicity and interpretability but risks overfitting and can preform poorly when there is high multicollinearity such as in this dataset.  </a:t>
            </a:r>
          </a:p>
          <a:p>
            <a:pPr marL="342900" indent="-342900" algn="l">
              <a:buFont typeface="Arial" panose="020B0604020202020204" pitchFamily="34" charset="0"/>
              <a:buChar char="•"/>
            </a:pPr>
            <a:r>
              <a:rPr lang="en-GB" b="1" dirty="0"/>
              <a:t>Stepwise Selection</a:t>
            </a:r>
            <a:r>
              <a:rPr lang="en-GB" dirty="0"/>
              <a:t>: Using the logistic model predictors are added and removed with the aim of minimising AIC continuing until AIC is not reduced when additional predictors are added. This approach is more computationally efficient than full-subset selection but does risk not choosing the best model due to its greedy approach. It improves on logistic regression as less predictors are needed. </a:t>
            </a:r>
          </a:p>
          <a:p>
            <a:pPr marL="342900" indent="-342900" algn="l">
              <a:buFont typeface="Arial" panose="020B0604020202020204" pitchFamily="34" charset="0"/>
              <a:buChar char="•"/>
            </a:pPr>
            <a:r>
              <a:rPr lang="en-GB" b="1" dirty="0"/>
              <a:t>Shrinkage Methods: </a:t>
            </a:r>
            <a:r>
              <a:rPr lang="en-GB" dirty="0"/>
              <a:t>Ridge regression &amp; Lasso aim to minimise residual sums of squares by applying lambda, a smoothing parameter, this reduces the coefficient’s influence reducing the risk of overfitting. Ridge shrinks but never eliminates the coefficients while Lasso shrinks and can eliminate coefficients by setting their influence at zero.   </a:t>
            </a:r>
          </a:p>
          <a:p>
            <a:pPr marL="342900" indent="-342900" algn="l">
              <a:buFont typeface="Arial" panose="020B0604020202020204" pitchFamily="34" charset="0"/>
              <a:buChar char="•"/>
            </a:pPr>
            <a:r>
              <a:rPr lang="en-GB" dirty="0"/>
              <a:t>Using cross validation, the best lambda (lowest mean square error) for the Ridge Model was 0.037 and 0.00434 for the Lasso Model which additionally only 12 of the predictors.  Both approaches are good as they reduce the risk of overfitting, additionally the Lasso reduces the number of predictor variables required, but both make coefficients difficult to interpret.   </a:t>
            </a:r>
          </a:p>
          <a:p>
            <a:pPr marL="342900" indent="-342900" algn="l">
              <a:buFont typeface="Arial" panose="020B0604020202020204" pitchFamily="34" charset="0"/>
              <a:buChar char="•"/>
            </a:pPr>
            <a:r>
              <a:rPr lang="en-GB" b="1" dirty="0"/>
              <a:t>Principle Component Analysis (PCA):</a:t>
            </a:r>
            <a:r>
              <a:rPr lang="en-GB" dirty="0"/>
              <a:t> Combines predictors to create a subset of new better predictor variables. After scaling all predictor variables, only one PCA component was chosen as it explained the most variance and preformed best on the training data. Again, PCA is good as less predictor variables are used, and reduces the risk of overfitting &amp; multicollinearity but interpretation remains low. </a:t>
            </a:r>
          </a:p>
          <a:p>
            <a:pPr marL="342900" indent="-342900" algn="l">
              <a:buFont typeface="Arial" panose="020B0604020202020204" pitchFamily="34" charset="0"/>
              <a:buChar char="•"/>
            </a:pPr>
            <a:endParaRPr lang="en-GB" dirty="0"/>
          </a:p>
        </p:txBody>
      </p:sp>
      <p:pic>
        <p:nvPicPr>
          <p:cNvPr id="4" name="Picture 3">
            <a:extLst>
              <a:ext uri="{FF2B5EF4-FFF2-40B4-BE49-F238E27FC236}">
                <a16:creationId xmlns:a16="http://schemas.microsoft.com/office/drawing/2014/main" id="{B3026803-D014-4F35-5EE5-1C1C0233D462}"/>
              </a:ext>
            </a:extLst>
          </p:cNvPr>
          <p:cNvPicPr>
            <a:picLocks noChangeAspect="1"/>
          </p:cNvPicPr>
          <p:nvPr/>
        </p:nvPicPr>
        <p:blipFill>
          <a:blip r:embed="rId2"/>
          <a:stretch>
            <a:fillRect/>
          </a:stretch>
        </p:blipFill>
        <p:spPr>
          <a:xfrm>
            <a:off x="10285023" y="144966"/>
            <a:ext cx="1281432" cy="121488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412808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CDE9F7"/>
            </a:gs>
            <a:gs pos="0">
              <a:schemeClr val="accent1">
                <a:lumMod val="5000"/>
                <a:lumOff val="95000"/>
              </a:schemeClr>
            </a:gs>
            <a:gs pos="87000">
              <a:srgbClr val="0070C0"/>
            </a:gs>
            <a:gs pos="95000">
              <a:schemeClr val="accent1">
                <a:lumMod val="45000"/>
                <a:lumOff val="55000"/>
              </a:schemeClr>
            </a:gs>
            <a:gs pos="63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91CFE5DB-0340-AF8C-3C8F-0FC3C862EA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203A79-5AAF-9E48-9304-96AA5176C80E}"/>
              </a:ext>
            </a:extLst>
          </p:cNvPr>
          <p:cNvSpPr>
            <a:spLocks noGrp="1"/>
          </p:cNvSpPr>
          <p:nvPr>
            <p:ph type="ctrTitle"/>
          </p:nvPr>
        </p:nvSpPr>
        <p:spPr>
          <a:xfrm>
            <a:off x="0" y="65587"/>
            <a:ext cx="9144000" cy="1098537"/>
          </a:xfrm>
        </p:spPr>
        <p:txBody>
          <a:bodyPr>
            <a:normAutofit/>
          </a:bodyPr>
          <a:lstStyle/>
          <a:p>
            <a:pPr algn="l"/>
            <a:r>
              <a:rPr lang="en-GB" sz="3600" b="1" dirty="0"/>
              <a:t>Assessing Results: </a:t>
            </a:r>
            <a:br>
              <a:rPr lang="en-GB" sz="3600" b="1" dirty="0"/>
            </a:br>
            <a:endParaRPr lang="en-GB" sz="3600" b="1" dirty="0"/>
          </a:p>
        </p:txBody>
      </p:sp>
      <p:sp>
        <p:nvSpPr>
          <p:cNvPr id="3" name="Subtitle 2">
            <a:extLst>
              <a:ext uri="{FF2B5EF4-FFF2-40B4-BE49-F238E27FC236}">
                <a16:creationId xmlns:a16="http://schemas.microsoft.com/office/drawing/2014/main" id="{36525B28-A40D-25CF-02D6-6AD84EF118F4}"/>
              </a:ext>
            </a:extLst>
          </p:cNvPr>
          <p:cNvSpPr>
            <a:spLocks noGrp="1"/>
          </p:cNvSpPr>
          <p:nvPr>
            <p:ph type="subTitle" idx="1"/>
          </p:nvPr>
        </p:nvSpPr>
        <p:spPr>
          <a:xfrm>
            <a:off x="75525" y="1773086"/>
            <a:ext cx="11862924" cy="4550979"/>
          </a:xfrm>
        </p:spPr>
        <p:txBody>
          <a:bodyPr>
            <a:normAutofit/>
          </a:bodyPr>
          <a:lstStyle/>
          <a:p>
            <a:pPr algn="l"/>
            <a:r>
              <a:rPr lang="en-GB" b="1" dirty="0"/>
              <a:t>To assess results the metrics used include: </a:t>
            </a:r>
          </a:p>
          <a:p>
            <a:pPr marL="342900" indent="-342900" algn="l">
              <a:buFont typeface="Arial" panose="020B0604020202020204" pitchFamily="34" charset="0"/>
              <a:buChar char="•"/>
            </a:pPr>
            <a:r>
              <a:rPr lang="en-GB" b="1" dirty="0"/>
              <a:t>Accuracy Score: </a:t>
            </a:r>
          </a:p>
          <a:p>
            <a:pPr marL="342900" indent="-342900" algn="l">
              <a:buFont typeface="Arial" panose="020B0604020202020204" pitchFamily="34" charset="0"/>
              <a:buChar char="•"/>
            </a:pPr>
            <a:r>
              <a:rPr lang="en-GB" b="1" dirty="0"/>
              <a:t>Brier Score: </a:t>
            </a:r>
            <a:r>
              <a:rPr lang="en-GB" dirty="0"/>
              <a:t>Considers both discrimination (ability to differentiate cases) &amp; calibration (are the predicted probabilities correct?) where lower values indicate </a:t>
            </a:r>
            <a:r>
              <a:rPr lang="en-GB"/>
              <a:t>better performance. </a:t>
            </a:r>
            <a:endParaRPr lang="en-GB" dirty="0"/>
          </a:p>
          <a:p>
            <a:pPr marL="342900" indent="-342900" algn="l">
              <a:buFont typeface="Arial" panose="020B0604020202020204" pitchFamily="34" charset="0"/>
              <a:buChar char="•"/>
            </a:pPr>
            <a:r>
              <a:rPr lang="en-GB" b="1" dirty="0"/>
              <a:t>Area Under the Curve: </a:t>
            </a:r>
          </a:p>
          <a:p>
            <a:pPr marL="342900" indent="-342900" algn="l">
              <a:buFont typeface="Arial" panose="020B0604020202020204" pitchFamily="34" charset="0"/>
              <a:buChar char="•"/>
            </a:pPr>
            <a:r>
              <a:rPr lang="en-GB" b="1" dirty="0"/>
              <a:t>Calibration Curve Intercept: </a:t>
            </a:r>
          </a:p>
          <a:p>
            <a:pPr marL="342900" indent="-342900" algn="l">
              <a:buFont typeface="Arial" panose="020B0604020202020204" pitchFamily="34" charset="0"/>
              <a:buChar char="•"/>
            </a:pPr>
            <a:r>
              <a:rPr lang="en-GB" b="1" dirty="0"/>
              <a:t>Calibration Curve Slope: </a:t>
            </a:r>
          </a:p>
        </p:txBody>
      </p:sp>
      <p:pic>
        <p:nvPicPr>
          <p:cNvPr id="4" name="Picture 3">
            <a:extLst>
              <a:ext uri="{FF2B5EF4-FFF2-40B4-BE49-F238E27FC236}">
                <a16:creationId xmlns:a16="http://schemas.microsoft.com/office/drawing/2014/main" id="{91A2A36D-97E2-E9F0-EC44-CF8929509867}"/>
              </a:ext>
            </a:extLst>
          </p:cNvPr>
          <p:cNvPicPr>
            <a:picLocks noChangeAspect="1"/>
          </p:cNvPicPr>
          <p:nvPr/>
        </p:nvPicPr>
        <p:blipFill>
          <a:blip r:embed="rId2"/>
          <a:stretch>
            <a:fillRect/>
          </a:stretch>
        </p:blipFill>
        <p:spPr>
          <a:xfrm>
            <a:off x="10285023" y="144966"/>
            <a:ext cx="1281432" cy="121488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469089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803A1-ED75-69F2-F30C-608A769D4ED9}"/>
              </a:ext>
            </a:extLst>
          </p:cNvPr>
          <p:cNvSpPr>
            <a:spLocks noGrp="1"/>
          </p:cNvSpPr>
          <p:nvPr>
            <p:ph type="title"/>
          </p:nvPr>
        </p:nvSpPr>
        <p:spPr/>
        <p:txBody>
          <a:bodyPr/>
          <a:lstStyle/>
          <a:p>
            <a:r>
              <a:rPr lang="en-GB" dirty="0"/>
              <a:t>Logistic Regression: </a:t>
            </a:r>
          </a:p>
        </p:txBody>
      </p:sp>
      <p:sp>
        <p:nvSpPr>
          <p:cNvPr id="3" name="Content Placeholder 2">
            <a:extLst>
              <a:ext uri="{FF2B5EF4-FFF2-40B4-BE49-F238E27FC236}">
                <a16:creationId xmlns:a16="http://schemas.microsoft.com/office/drawing/2014/main" id="{5C3BABEE-F9A6-1A42-C6FD-48877B5F067B}"/>
              </a:ext>
            </a:extLst>
          </p:cNvPr>
          <p:cNvSpPr>
            <a:spLocks noGrp="1"/>
          </p:cNvSpPr>
          <p:nvPr>
            <p:ph idx="1"/>
          </p:nvPr>
        </p:nvSpPr>
        <p:spPr/>
        <p:txBody>
          <a:bodyPr>
            <a:normAutofit/>
          </a:bodyPr>
          <a:lstStyle/>
          <a:p>
            <a:r>
              <a:rPr lang="en-GB" dirty="0"/>
              <a:t>Fitting a logistic regression model, the model wouldn’t converge due to the strong predictive power (predictors being very good at predicting the response). Contrary to expected, logistic regression struggles with this and it causes many predictions to be 0 or 1 where the model essentially fails. Therefore, it’s values must be considered with caution. </a:t>
            </a:r>
          </a:p>
          <a:p>
            <a:r>
              <a:rPr lang="en-GB" dirty="0"/>
              <a:t>Logistic regression is good for its simplicity and interpretability but risks overfitting and can preform poorly when there is high multicollinearity such as in this dataset.  </a:t>
            </a:r>
          </a:p>
        </p:txBody>
      </p:sp>
    </p:spTree>
    <p:extLst>
      <p:ext uri="{BB962C8B-B14F-4D97-AF65-F5344CB8AC3E}">
        <p14:creationId xmlns:p14="http://schemas.microsoft.com/office/powerpoint/2010/main" val="9156890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TotalTime>
  <Words>877</Words>
  <Application>Microsoft Office PowerPoint</Application>
  <PresentationFormat>Widescreen</PresentationFormat>
  <Paragraphs>29</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Predictive Modelling Assignment: Breast Cancer Wisconsin  </vt:lpstr>
      <vt:lpstr>The Dataset:  </vt:lpstr>
      <vt:lpstr>Initial Assessment:  </vt:lpstr>
      <vt:lpstr>Logistic Regression, Subset Selection, Shrinkage Methods, and Principle Component Analysis :  </vt:lpstr>
      <vt:lpstr>Assessing Results:  </vt:lpstr>
      <vt:lpstr>Logistic Regression: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Tom Glynn</dc:creator>
  <cp:lastModifiedBy>Tom Glynn</cp:lastModifiedBy>
  <cp:revision>1</cp:revision>
  <dcterms:created xsi:type="dcterms:W3CDTF">2026-03-20T18:20:40Z</dcterms:created>
  <dcterms:modified xsi:type="dcterms:W3CDTF">2026-03-20T19:39:02Z</dcterms:modified>
</cp:coreProperties>
</file>